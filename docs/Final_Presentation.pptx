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1E205-CCE3-B170-F33C-BDA8524A4C67}" v="4" dt="2026-02-12T07:18:25.479"/>
    <p1510:client id="{D101D984-9E47-2883-E9BC-D77C929BD1CC}" v="2" dt="2026-02-12T00:03:04.168"/>
    <p1510:client id="{EEB55A3A-2217-5E4C-B395-1AFD5F500B99}" v="104" dt="2026-02-12T00:22:35.185"/>
    <p1510:client id="{FA619C89-8833-6F51-810D-8312DE420808}" v="22" dt="2026-02-12T18:53:26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3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FF-5D45-B952-CCCD07371864}"/>
              </c:ext>
            </c:extLst>
          </c:dPt>
          <c:dPt>
            <c:idx val="1"/>
            <c:bubble3D val="0"/>
            <c:spPr>
              <a:solidFill>
                <a:srgbClr val="E85D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FF-5D45-B952-CCCD07371864}"/>
              </c:ext>
            </c:extLst>
          </c:dPt>
          <c:cat>
            <c:strRef>
              <c:f>Sheet1!$A$2:$A$3</c:f>
              <c:strCache>
                <c:ptCount val="2"/>
                <c:pt idx="0">
                  <c:v>Not-Related (70.8%)</c:v>
                </c:pt>
                <c:pt idx="1">
                  <c:v>ADE (29.2%)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70.8</c:v>
                </c:pt>
                <c:pt idx="1">
                  <c:v>29.2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FF-5D45-B952-CCCD073718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has_both</c:v>
                </c:pt>
                <c:pt idx="1">
                  <c:v>drug_count</c:v>
                </c:pt>
                <c:pt idx="2">
                  <c:v>has_drug</c:v>
                </c:pt>
                <c:pt idx="3">
                  <c:v>disease_count</c:v>
                </c:pt>
                <c:pt idx="4">
                  <c:v>induced</c:v>
                </c:pt>
                <c:pt idx="5">
                  <c:v>has_disease</c:v>
                </c:pt>
                <c:pt idx="6">
                  <c:v>develop</c:v>
                </c:pt>
                <c:pt idx="7">
                  <c:v>associate</c:v>
                </c:pt>
                <c:pt idx="8">
                  <c:v>induce</c:v>
                </c:pt>
                <c:pt idx="9">
                  <c:v>associated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7.7100000000000002E-2</c:v>
                </c:pt>
                <c:pt idx="1">
                  <c:v>5.7099999999999998E-2</c:v>
                </c:pt>
                <c:pt idx="2">
                  <c:v>5.3100000000000001E-2</c:v>
                </c:pt>
                <c:pt idx="3">
                  <c:v>3.3099999999999997E-2</c:v>
                </c:pt>
                <c:pt idx="4">
                  <c:v>2.5100000000000001E-2</c:v>
                </c:pt>
                <c:pt idx="5">
                  <c:v>1.95E-2</c:v>
                </c:pt>
                <c:pt idx="6">
                  <c:v>1.43E-2</c:v>
                </c:pt>
                <c:pt idx="7">
                  <c:v>9.1000000000000004E-3</c:v>
                </c:pt>
                <c:pt idx="8">
                  <c:v>7.4000000000000003E-3</c:v>
                </c:pt>
                <c:pt idx="9">
                  <c:v>6.7000000000000002E-3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1-DE42-AFBE-04FA0204C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E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97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slide. This presentation covers our pharmacovigilance text analytics project — building an automated system to detect Adverse Drug Events from unstructured medical text. The project was completed for INSY 662 at McGill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Pharmacovigilance is a regulatory requirement. After drugs reach the market, companies must continuously monitor for adverse drug events.</a:t>
            </a:r>
          </a:p>
          <a:p>
            <a:r>
              <a:rPr lang="en-US"/>
              <a:t>Right now, this relies heavily on manual expert review of medical reports and literature. That process is slow, expensive, and doesn’t scale with the growing volume of medical text.</a:t>
            </a:r>
          </a:p>
          <a:p>
            <a:r>
              <a:rPr lang="en-US"/>
              <a:t>Missing an adverse event can have serious consequences for patient safety and regulatory compliance.</a:t>
            </a:r>
          </a:p>
          <a:p>
            <a:r>
              <a:rPr lang="en-US"/>
              <a:t>Our goal was to build a system that automatically flags sentences likely describing an adverse drug event — not to replace experts, but to support them.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pipeline has five stages:</a:t>
            </a:r>
          </a:p>
          <a:p>
            <a:r>
              <a:rPr lang="en-US"/>
              <a:t>First, text preprocessing to normalize language.</a:t>
            </a:r>
            <a:br>
              <a:rPr lang="en-US">
                <a:cs typeface="+mn-lt"/>
              </a:rPr>
            </a:br>
            <a:r>
              <a:rPr lang="en-US"/>
              <a:t>Second, Named Entity Recognition to extract drugs and diseases.</a:t>
            </a:r>
            <a:br>
              <a:rPr lang="en-US">
                <a:cs typeface="+mn-lt"/>
              </a:rPr>
            </a:br>
            <a:r>
              <a:rPr lang="en-US"/>
              <a:t>Third, feature engineering combining text features with entity features.</a:t>
            </a:r>
            <a:br>
              <a:rPr lang="en-US">
                <a:cs typeface="+mn-lt"/>
              </a:rPr>
            </a:br>
            <a:r>
              <a:rPr lang="en-US"/>
              <a:t>Fourth, classification modeling.</a:t>
            </a:r>
            <a:br>
              <a:rPr lang="en-US">
                <a:cs typeface="+mn-lt"/>
              </a:rPr>
            </a:br>
            <a:r>
              <a:rPr lang="en-US"/>
              <a:t>And finally, evaluation — with special focus on minimizing false negatives, since missing a true adverse event is the most dangerous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34D8-FDB5-E14B-4551-D2AA8F1C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C798E-5D5E-D236-CBFE-1B32079DB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4CCF7-BADC-A74A-20C3-AAF43E17C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A1B4E-B76F-81FF-6DD7-C1D0EA05B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32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used the ADE Corpus V2 dataset, a benchmark collection of medical sentences labeled as either describing an adverse drug event or not.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Only a minority of sentences contain ADEs, which reflects real-world imbalance in pharmacovigilance data. Because of this imbalance, accuracy alone would be misleading.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So we focused on recall and F1-score — metrics that better reflect performance on the safety-critical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preprocessing had three phases.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First, we cleaned and tokenized the text, keeping medically meaningful terms.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Second, we performed POS-aware lemmatization. This is important in biomedical language — simple stemming would distort words and reduce feature quality.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By using part-of-speech information, we preserved meaningful word forms while standardizing the text.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result was a clean token stream ready for feature extraction.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then applied biomedical Named Entity Recognition using a </a:t>
            </a:r>
            <a:r>
              <a:rPr lang="en-US" err="1"/>
              <a:t>scispaCy</a:t>
            </a:r>
            <a:r>
              <a:rPr lang="en-US"/>
              <a:t> model.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It extracts two key entity types: drugs and diseases.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From these extractions, we engineered features indicating whether a sentence contains a drug, a disease, or both.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Our core hypothesis was simple: sentences that mention both a drug and a disease together are more likely to describe an adverse event.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This hypothesis turned out to be correct — the co-occurrence feature became the strongest signal in the final model.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tested two tiers of models.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baseline tier used standard text features only.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second tier enhanced those models by adding the NER-based features.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We focused on three diverse models — a linear model, an ensemble model, and a margin-based model — to ensure our findings weren’t dependent on a single learning paradigm.</a:t>
            </a:r>
            <a:endParaRPr lang="en-US">
              <a:solidFill>
                <a:srgbClr val="444444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Among baseline models, SVM performed best using text features alone.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Some models struggled significantly, especially in high-dimensional space, which is common with TF-IDF.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Overall, text-only models worked reasonably well — but left room for improvement.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where the key finding emerged.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Adding NER features consistently improved performance across all models.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improvements were especially strong for the linear model, suggesting that drug-disease co-occurrence provides a clear, structured signal.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ensemble model achieved the strongest overall balance of precision and recall and became our selected final model.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Most importantly, the improvement was consistent across model types — validating our feature engineering hypothesis.</a:t>
            </a:r>
            <a:endParaRPr lang="en-US">
              <a:solidFill>
                <a:srgbClr val="444444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final model achieved strong balanced performance.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It correctly filtered most non-ADE sentences while capturing the majority of true ADEs.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most important takeaway from the confusion matrix is this: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False negatives — missed adverse events — were significantly reduced compared to baseline models.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False positives were manageable and represent lower operational risk.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pharmacovigilance, errors are asymmetric.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Missing a real adverse event is far more dangerous than flagging an extra sentence for review.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That’s why recall matters more than pure accuracy.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This model is best deployed as a screening tool — narrowing down massive volumes of text so human reviewers can focus their expertise where it matters most.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Feature importance analysis strongly validated our approach.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NER-derived features ranked among the most influential predictors.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co-occurrence of a drug and disease was especially powerful.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Traditional text features also contributed, particularly words associated with causality.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Together, structured entity signals and causal language created an effective detection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error analysis revealed patterns.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False negatives often occurred when causality was implied rather than explicitly stated.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Negation and complex sentence structures also created challenges.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False positives often occurred when drugs and diseases co-occurred without a true adverse relationship.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These patterns point clearly toward future improvements.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important limitations.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We trained on a single dataset.</a:t>
            </a:r>
            <a:br>
              <a:rPr lang="en-US">
                <a:cs typeface="+mn-lt"/>
              </a:rPr>
            </a:br>
            <a:r>
              <a:rPr lang="en-US"/>
              <a:t> The classification is sentence-level, not document-level.</a:t>
            </a:r>
            <a:br>
              <a:rPr lang="en-US">
                <a:cs typeface="+mn-lt"/>
              </a:rPr>
            </a:br>
            <a:r>
              <a:rPr lang="en-US"/>
              <a:t> TF-IDF does not capture word order or contextual nuance.</a:t>
            </a:r>
            <a:br>
              <a:rPr lang="en-US">
                <a:cs typeface="+mn-lt"/>
              </a:rPr>
            </a:br>
            <a:r>
              <a:rPr lang="en-US"/>
              <a:t> And we did not incorporate advanced semantic models.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These constraints define our next steps.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Future improvements include transformer-based biomedical models that better capture context and negation.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We could optimize thresholds specifically for high-recall settings.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Active learning could expand the dataset efficiently.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And integrating real-world adverse event databases would strengthen practical deployment.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conclude: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key innovation was combining structured biomedical entity features with traditional text features.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Drug-disease co-occurrence proved to be a powerful signal.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The final model achieved strong, balanced performance and is well-suited as a first-pass screening system.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This approach meaningfully reduces manual workload while maintaining safety sensitivity.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Thank you.</a:t>
            </a:r>
            <a:endParaRPr lang="en-US">
              <a:solidFill>
                <a:srgbClr val="444444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BACD-19AA-EBC3-31EA-F640B79F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04B3C-61B1-7CCD-AE81-D3EAEADE7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CB104-87C9-7FA6-993A-310B9BF46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A7B6F-C717-8D3E-344C-BA6EBB3DA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64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83B1FC21-53D7-4503-0D3A-412944117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E17F46-0736-5BFD-2BA5-8D8CF0C0BF8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3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E00F46-25F2-0EB7-8ED0-80087987D08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3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3474720"/>
            <a:ext cx="882396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61931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Pharmacovigilance </a:t>
            </a:r>
          </a:p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Text Analytics</a:t>
            </a:r>
            <a:endParaRPr lang="en-US" sz="3600">
              <a:latin typeface="Georgia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7288" y="225933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 Adverse Drug Events (ADEs)</a:t>
            </a:r>
            <a:endParaRPr lang="en-US" sz="2800"/>
          </a:p>
        </p:txBody>
      </p:sp>
      <p:sp>
        <p:nvSpPr>
          <p:cNvPr id="7" name="Text 4"/>
          <p:cNvSpPr/>
          <p:nvPr/>
        </p:nvSpPr>
        <p:spPr>
          <a:xfrm>
            <a:off x="10058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02C39A"/>
                </a:solidFill>
                <a:latin typeface="Calibri" pitchFamily="34" charset="0"/>
                <a:cs typeface="Calibri" pitchFamily="34" charset="-120"/>
              </a:rPr>
              <a:t>Jacob, Lucas, Feroz, Faye and Matthieu </a:t>
            </a:r>
            <a:endParaRPr lang="en-US" sz="130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8958D970-D5FE-3BBF-5BC6-2F27794F0D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098D3E0-1417-6D79-97EF-96DF7001E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645CA35-F267-8D55-9B78-C70D88CEE9A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3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Why This Matters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drug safety monitoring is mandated by FDA and Health Canada</a:t>
            </a:r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8745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68580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unstructured text from case reports, literature, and patient content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2606040" y="192024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06040" y="1920240"/>
            <a:ext cx="187452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274320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expert review is slow, expensive, and unscalable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663440" y="192024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63440" y="1920240"/>
            <a:ext cx="1874520" cy="73152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060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480060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ADEs increase patient harm and trigger regulatory action</a:t>
            </a:r>
            <a:endParaRPr lang="en-US" sz="1200"/>
          </a:p>
        </p:txBody>
      </p:sp>
      <p:sp>
        <p:nvSpPr>
          <p:cNvPr id="19" name="Shape 16"/>
          <p:cNvSpPr/>
          <p:nvPr/>
        </p:nvSpPr>
        <p:spPr>
          <a:xfrm>
            <a:off x="6720840" y="192024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720840" y="1920240"/>
            <a:ext cx="1874520" cy="73152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685800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sentence-level ADE flagging system</a:t>
            </a:r>
            <a:endParaRPr lang="en-US" sz="120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24D88ED-FD55-32A5-B1DA-5CCE23CBB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Approach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210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POS-tag,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892808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2075688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8775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2167128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Entity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2167128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+ disease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648456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3831336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43400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3922776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922776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NER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404104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3" name="Shape 21"/>
          <p:cNvSpPr/>
          <p:nvPr/>
        </p:nvSpPr>
        <p:spPr>
          <a:xfrm>
            <a:off x="5586984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99048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904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5678424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5678424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NER-enhanced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715975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9" name="Shape 27"/>
          <p:cNvSpPr/>
          <p:nvPr/>
        </p:nvSpPr>
        <p:spPr>
          <a:xfrm>
            <a:off x="7342632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54696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5469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7434072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7434072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110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D4C4-86CB-CD5B-72CE-4764C2C2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AB4D541-1079-E69A-425F-CE0315012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4CE7015-A9B5-05C5-91FA-08B6855DADA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DE964-CDAB-2769-2BB9-00CBCBAFF758}"/>
              </a:ext>
            </a:extLst>
          </p:cNvPr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Approach</a:t>
            </a:r>
            <a:endParaRPr lang="en-US"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B15EBA-3721-0CCD-CDA1-C66BDC31EE25}"/>
              </a:ext>
            </a:extLst>
          </p:cNvPr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890B8F-140F-4D7A-D567-8F1BE82B3778}"/>
              </a:ext>
            </a:extLst>
          </p:cNvPr>
          <p:cNvSpPr/>
          <p:nvPr/>
        </p:nvSpPr>
        <p:spPr>
          <a:xfrm>
            <a:off x="320040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487288-78F7-CE35-85DB-3FCA6986821D}"/>
              </a:ext>
            </a:extLst>
          </p:cNvPr>
          <p:cNvSpPr/>
          <p:nvPr/>
        </p:nvSpPr>
        <p:spPr>
          <a:xfrm>
            <a:off x="832104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698A29-F972-9C0B-4E82-5FBDC6D11FC6}"/>
              </a:ext>
            </a:extLst>
          </p:cNvPr>
          <p:cNvSpPr/>
          <p:nvPr/>
        </p:nvSpPr>
        <p:spPr>
          <a:xfrm>
            <a:off x="83210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B1F6C1-8E3F-1BE0-BF55-7E784C9C0E07}"/>
              </a:ext>
            </a:extLst>
          </p:cNvPr>
          <p:cNvSpPr/>
          <p:nvPr/>
        </p:nvSpPr>
        <p:spPr>
          <a:xfrm>
            <a:off x="411480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0706ED-7A7B-147D-2336-CEDE4A5C5768}"/>
              </a:ext>
            </a:extLst>
          </p:cNvPr>
          <p:cNvSpPr/>
          <p:nvPr/>
        </p:nvSpPr>
        <p:spPr>
          <a:xfrm>
            <a:off x="411480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POS-tag,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1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FA828F-6DBF-2486-12C0-89677C751B10}"/>
              </a:ext>
            </a:extLst>
          </p:cNvPr>
          <p:cNvSpPr/>
          <p:nvPr/>
        </p:nvSpPr>
        <p:spPr>
          <a:xfrm>
            <a:off x="1892808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7399364-FFCE-A73B-3975-D44631E987C2}"/>
              </a:ext>
            </a:extLst>
          </p:cNvPr>
          <p:cNvSpPr/>
          <p:nvPr/>
        </p:nvSpPr>
        <p:spPr>
          <a:xfrm>
            <a:off x="2075688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EB45B9-D5A6-7B42-6CE6-898DB0068E35}"/>
              </a:ext>
            </a:extLst>
          </p:cNvPr>
          <p:cNvSpPr/>
          <p:nvPr/>
        </p:nvSpPr>
        <p:spPr>
          <a:xfrm>
            <a:off x="2587752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841F08E-A30F-DD27-92F7-2515A44517B4}"/>
              </a:ext>
            </a:extLst>
          </p:cNvPr>
          <p:cNvSpPr/>
          <p:nvPr/>
        </p:nvSpPr>
        <p:spPr>
          <a:xfrm>
            <a:off x="258775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80789D-1E4F-EF9A-94FF-38A90619B733}"/>
              </a:ext>
            </a:extLst>
          </p:cNvPr>
          <p:cNvSpPr/>
          <p:nvPr/>
        </p:nvSpPr>
        <p:spPr>
          <a:xfrm>
            <a:off x="2167128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Entity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1E3721-8747-D979-081D-2B2040E5DF24}"/>
              </a:ext>
            </a:extLst>
          </p:cNvPr>
          <p:cNvSpPr/>
          <p:nvPr/>
        </p:nvSpPr>
        <p:spPr>
          <a:xfrm>
            <a:off x="2167128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+ disease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FC4766-F570-F1A2-EE89-87B10EEE18BC}"/>
              </a:ext>
            </a:extLst>
          </p:cNvPr>
          <p:cNvSpPr/>
          <p:nvPr/>
        </p:nvSpPr>
        <p:spPr>
          <a:xfrm>
            <a:off x="3648456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88DD762-740A-C68F-A104-B01C7511CA29}"/>
              </a:ext>
            </a:extLst>
          </p:cNvPr>
          <p:cNvSpPr/>
          <p:nvPr/>
        </p:nvSpPr>
        <p:spPr>
          <a:xfrm>
            <a:off x="3831336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7565245-34A6-D6FC-2AEC-73396A9AB380}"/>
              </a:ext>
            </a:extLst>
          </p:cNvPr>
          <p:cNvSpPr/>
          <p:nvPr/>
        </p:nvSpPr>
        <p:spPr>
          <a:xfrm>
            <a:off x="4343400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6C2EECB-F73F-DC98-D611-B3B64FF7E1A9}"/>
              </a:ext>
            </a:extLst>
          </p:cNvPr>
          <p:cNvSpPr/>
          <p:nvPr/>
        </p:nvSpPr>
        <p:spPr>
          <a:xfrm>
            <a:off x="43434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FCAEA90-91EA-E0DF-9DCE-8B73BDDEDE73}"/>
              </a:ext>
            </a:extLst>
          </p:cNvPr>
          <p:cNvSpPr/>
          <p:nvPr/>
        </p:nvSpPr>
        <p:spPr>
          <a:xfrm>
            <a:off x="3922776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DB23A7A-E72F-BF64-9F90-B2897C1948F2}"/>
              </a:ext>
            </a:extLst>
          </p:cNvPr>
          <p:cNvSpPr/>
          <p:nvPr/>
        </p:nvSpPr>
        <p:spPr>
          <a:xfrm>
            <a:off x="3922776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NER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FC3741F-8955-A214-4ADE-BFEDF8F190C0}"/>
              </a:ext>
            </a:extLst>
          </p:cNvPr>
          <p:cNvSpPr/>
          <p:nvPr/>
        </p:nvSpPr>
        <p:spPr>
          <a:xfrm>
            <a:off x="5404104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54EC741-9145-CF98-AD5F-D0064A29E473}"/>
              </a:ext>
            </a:extLst>
          </p:cNvPr>
          <p:cNvSpPr/>
          <p:nvPr/>
        </p:nvSpPr>
        <p:spPr>
          <a:xfrm>
            <a:off x="5586984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7677FB2-9A88-96E8-243B-A82DF291C680}"/>
              </a:ext>
            </a:extLst>
          </p:cNvPr>
          <p:cNvSpPr/>
          <p:nvPr/>
        </p:nvSpPr>
        <p:spPr>
          <a:xfrm>
            <a:off x="6099048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11397CF-8AB7-CCBD-C187-63D262718842}"/>
              </a:ext>
            </a:extLst>
          </p:cNvPr>
          <p:cNvSpPr/>
          <p:nvPr/>
        </p:nvSpPr>
        <p:spPr>
          <a:xfrm>
            <a:off x="609904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603DE5D-A1B7-DABE-66A3-E8821E7AB782}"/>
              </a:ext>
            </a:extLst>
          </p:cNvPr>
          <p:cNvSpPr/>
          <p:nvPr/>
        </p:nvSpPr>
        <p:spPr>
          <a:xfrm>
            <a:off x="5678424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3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8153F15-A814-823A-555D-49EF96C8DB05}"/>
              </a:ext>
            </a:extLst>
          </p:cNvPr>
          <p:cNvSpPr/>
          <p:nvPr/>
        </p:nvSpPr>
        <p:spPr>
          <a:xfrm>
            <a:off x="5678424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NER-enhanced</a:t>
            </a:r>
            <a:endParaRPr lang="en-US" sz="11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8789983-3B62-CEA0-CE60-AC3015A6C837}"/>
              </a:ext>
            </a:extLst>
          </p:cNvPr>
          <p:cNvSpPr/>
          <p:nvPr/>
        </p:nvSpPr>
        <p:spPr>
          <a:xfrm>
            <a:off x="7159752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33C5692-959E-93FE-A1D0-14CEEB340EC6}"/>
              </a:ext>
            </a:extLst>
          </p:cNvPr>
          <p:cNvSpPr/>
          <p:nvPr/>
        </p:nvSpPr>
        <p:spPr>
          <a:xfrm>
            <a:off x="7342632" y="1188720"/>
            <a:ext cx="157276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0E54F7F-B7B3-D677-FDF7-267E49189EC5}"/>
              </a:ext>
            </a:extLst>
          </p:cNvPr>
          <p:cNvSpPr/>
          <p:nvPr/>
        </p:nvSpPr>
        <p:spPr>
          <a:xfrm>
            <a:off x="7854696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70B90CE-86EF-248D-0C59-BA306EA14995}"/>
              </a:ext>
            </a:extLst>
          </p:cNvPr>
          <p:cNvSpPr/>
          <p:nvPr/>
        </p:nvSpPr>
        <p:spPr>
          <a:xfrm>
            <a:off x="785469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A4090CC-D685-1EB3-D3CE-78A43F2ACA5F}"/>
              </a:ext>
            </a:extLst>
          </p:cNvPr>
          <p:cNvSpPr/>
          <p:nvPr/>
        </p:nvSpPr>
        <p:spPr>
          <a:xfrm>
            <a:off x="7434072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23BD349-B26B-14BE-5806-EA1CE9D0A17C}"/>
              </a:ext>
            </a:extLst>
          </p:cNvPr>
          <p:cNvSpPr/>
          <p:nvPr/>
        </p:nvSpPr>
        <p:spPr>
          <a:xfrm>
            <a:off x="7434072" y="29260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110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64DE292-7574-363B-8E9B-1CE47F8CC5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75304"/>
            <a:ext cx="9140587" cy="521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2966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A9F3B8-CD3A-5456-D5EC-9CC073D78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 Corpus V2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HuggingFace: SetFit/ade_corpus_v2_classification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17,637 labeled medical sentences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labels: ADE vs. Not-Related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case reports &amp; clinical literature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classification granularity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93776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206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Distribution</a:t>
            </a:r>
            <a:endParaRPr lang="en-US" sz="1500"/>
          </a:p>
        </p:txBody>
      </p:sp>
      <p:graphicFrame>
        <p:nvGraphicFramePr>
          <p:cNvPr id="12" name="Chart 0"/>
          <p:cNvGraphicFramePr/>
          <p:nvPr/>
        </p:nvGraphicFramePr>
        <p:xfrm>
          <a:off x="5120640" y="1645920"/>
          <a:ext cx="32918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65D69AD-05FE-298E-AD3B-EF01C4F65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Pipeline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POS Tagging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all text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word_tokenize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punctuation-only tokens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digit-only tokens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alphanumeric medical terms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560320" cy="64008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POS-Aware Lemmatization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(Penn Treebank)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tags → WordNet categories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Nouns, verbs, adjectives, adverbs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Context-correct lemmatization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medical term integrity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89788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5603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lemmatized token stream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"was" → "be"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"injections" → "injection"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"regressed" → "regress"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TF-IDF extraction</a:t>
            </a:r>
            <a:endParaRPr lang="en-US" sz="115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>
            <a:extLst>
              <a:ext uri="{FF2B5EF4-FFF2-40B4-BE49-F238E27FC236}">
                <a16:creationId xmlns:a16="http://schemas.microsoft.com/office/drawing/2014/main" id="{2CCF0FA2-DB1B-055D-F6E2-48B66B816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Entity Recognition (NER)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scispaCy BC5CDR Model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6858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en_ner_bc5cdr_md — trained on BioCreative V corpus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8580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CHEMICAL: </a:t>
            </a: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&amp; compound mentions</a:t>
            </a:r>
            <a:endParaRPr lang="en-US" sz="120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DISEASE: </a:t>
            </a: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conditions &amp; diseases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937760" y="105156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37760" y="1051560"/>
            <a:ext cx="64008" cy="182880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5166360" y="1600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has_drug — binary drug presence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has_disease — binary disease presence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drug_count — number of drug entities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disease_count — number of disease entities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has_both — drug + disease co-occurrence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3337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Hypothesis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Sentences describing ADEs are more likely to mention both a drug and a disease/symptom in close proximity. The </a:t>
            </a:r>
            <a:r>
              <a:rPr lang="en-US" sz="12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has_both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feature directly encodes this drug disease co-occurrence signal.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C735E18F-D895-7544-FAF0-D948C329A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BD99DA7-29DD-760E-48D6-493CB6FF0CA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3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Strategy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Models (TF-IDF Only)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trees)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(k=5)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(linear)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64008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NER-Enhanced (TF-IDF + NER)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NER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NER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NER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3566160" cy="1051560"/>
          </a:xfrm>
          <a:prstGeom prst="rect">
            <a:avLst/>
          </a:prstGeom>
          <a:solidFill>
            <a:srgbClr val="FF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3108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and KNN excluded from NER-enhanced testing due to poor baseline F1 (0.65 and 0.38 respectively)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5,005-dimensional feature vector: 5,000 TF-IDF + 5 standardized NER features</a:t>
            </a:r>
            <a:endParaRPr lang="en-US" sz="1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Results (TF-IDF Only)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E8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strongest baseline </a:t>
            </a: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(F1 = 0.771, best recall at 0.728)</a:t>
            </a:r>
            <a:endParaRPr lang="en-US" sz="110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severely underperformed </a:t>
            </a: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 = 0.245 — curse of dimensionality in 5,000-feature space)</a:t>
            </a:r>
            <a:endParaRPr lang="en-US" sz="110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</a:t>
            </a: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precision (0.839) but weak recall (0.525) — independence assumption fails for ADE patterns</a:t>
            </a:r>
            <a:endParaRPr lang="en-US" sz="110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of NER Features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858000" y="274320"/>
            <a:ext cx="182880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1051560"/>
          </a:xfrm>
          <a:prstGeom prst="rect">
            <a:avLst/>
          </a:prstGeom>
          <a:solidFill>
            <a:srgbClr val="1638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+14.7 pp recall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F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29184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E8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0.717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5212080" y="1005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F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21208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0.792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6949440" y="1143000"/>
            <a:ext cx="137160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+0.075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8046720" cy="1051560"/>
          </a:xfrm>
          <a:prstGeom prst="rect">
            <a:avLst/>
          </a:prstGeom>
          <a:solidFill>
            <a:srgbClr val="1638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7772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+15.1 pp recall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29184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F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2918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E8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521208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F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F1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52120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0.821</a:t>
            </a:r>
            <a:endParaRPr lang="en-US" sz="2200"/>
          </a:p>
        </p:txBody>
      </p:sp>
      <p:sp>
        <p:nvSpPr>
          <p:cNvPr id="23" name="Shape 21"/>
          <p:cNvSpPr/>
          <p:nvPr/>
        </p:nvSpPr>
        <p:spPr>
          <a:xfrm>
            <a:off x="6949440" y="2286000"/>
            <a:ext cx="137160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+0.067</a:t>
            </a:r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8046720" cy="1051560"/>
          </a:xfrm>
          <a:prstGeom prst="rect">
            <a:avLst/>
          </a:prstGeom>
          <a:solidFill>
            <a:srgbClr val="1638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7772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 pp recall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29184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F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29184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E8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0.771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47548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31" name="Text 29"/>
          <p:cNvSpPr/>
          <p:nvPr/>
        </p:nvSpPr>
        <p:spPr>
          <a:xfrm>
            <a:off x="521208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F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F1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0.809</a:t>
            </a:r>
            <a:endParaRPr lang="en-US" sz="2200"/>
          </a:p>
        </p:txBody>
      </p:sp>
      <p:sp>
        <p:nvSpPr>
          <p:cNvPr id="33" name="Shape 31"/>
          <p:cNvSpPr/>
          <p:nvPr/>
        </p:nvSpPr>
        <p:spPr>
          <a:xfrm>
            <a:off x="6949440" y="3429000"/>
            <a:ext cx="137160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4944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+0.038</a:t>
            </a:r>
            <a:endParaRPr lang="en-US" sz="200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8872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(NER) selected as best model — highest F1 across all experiments</a:t>
            </a:r>
            <a:endParaRPr lang="en-US" sz="1400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Random Forest (NER)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89.6%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2024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82.3%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(ADE)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20240" cy="54864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81.8%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(ADE)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903720" y="105156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03720" y="1051560"/>
            <a:ext cx="1920240" cy="54864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82.1%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(ADE)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(Test Set: 3,528 sentences)</a:t>
            </a:r>
            <a:endParaRPr lang="en-US" sz="14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502920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/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Not ADE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ADE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Not ADE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2,324 (TN)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8564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 (FP)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ADE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D94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 (FN)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844 (TP)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943600" y="26060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43600" y="2606040"/>
            <a:ext cx="64008" cy="201168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1722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 Metrics</a:t>
            </a:r>
            <a:endParaRPr lang="en-US" sz="1300"/>
          </a:p>
        </p:txBody>
      </p:sp>
      <p:sp>
        <p:nvSpPr>
          <p:cNvPr id="26" name="Text 23"/>
          <p:cNvSpPr/>
          <p:nvPr/>
        </p:nvSpPr>
        <p:spPr>
          <a:xfrm>
            <a:off x="617220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 F1: </a:t>
            </a: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30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F1: </a:t>
            </a: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30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Not-ADE F1: </a:t>
            </a:r>
            <a:r>
              <a:rPr lang="en-US" sz="13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30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Perspective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58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3931920" cy="2560320"/>
          </a:xfrm>
          <a:prstGeom prst="rect">
            <a:avLst/>
          </a:prstGeom>
          <a:solidFill>
            <a:srgbClr val="FFF0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3931920" cy="64008"/>
          </a:xfrm>
          <a:prstGeom prst="rect">
            <a:avLst/>
          </a:prstGeom>
          <a:solidFill>
            <a:srgbClr val="D94E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4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Negatives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3017520" y="1920240"/>
            <a:ext cx="1097280" cy="320040"/>
          </a:xfrm>
          <a:prstGeom prst="rect">
            <a:avLst/>
          </a:prstGeom>
          <a:solidFill>
            <a:srgbClr val="D94E4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685800" y="24231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of true ADE sentences missed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safety signals escape detection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delay identification of dangerous drug-event patterns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exposure to preventable harm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3931920" cy="2560320"/>
          </a:xfrm>
          <a:prstGeom prst="rect">
            <a:avLst/>
          </a:prstGeom>
          <a:solidFill>
            <a:srgbClr val="EBF9F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691640"/>
            <a:ext cx="3931920" cy="6400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834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Positives</a:t>
            </a:r>
            <a:endParaRPr lang="en-US" sz="1800"/>
          </a:p>
        </p:txBody>
      </p:sp>
      <p:sp>
        <p:nvSpPr>
          <p:cNvPr id="14" name="Text 11"/>
          <p:cNvSpPr/>
          <p:nvPr/>
        </p:nvSpPr>
        <p:spPr>
          <a:xfrm>
            <a:off x="7315200" y="1920240"/>
            <a:ext cx="1097280" cy="320040"/>
          </a:xfrm>
          <a:prstGeom prst="rect">
            <a:avLst/>
          </a:prstGeom>
          <a:solidFill>
            <a:srgbClr val="2E8B5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4983480" y="24231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 of non-ADE sentences flagged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reviewer workload, not harmful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Tolerable cost in safety-critical context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Deploy as screening tool with human-in-the-loop validation, not as standalone replacement</a:t>
            </a:r>
            <a:endParaRPr lang="en-US" sz="1300"/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Insights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60720" y="1005840"/>
            <a:ext cx="64008" cy="3474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989320" y="160020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features dominate: top 4 features and 6 of top 6 are NER-derived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has_both alone = ~8% of total importance across 5,005 features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 ("induced", "associated", "cause") is highly predictive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 terms ("patient", "treatment", "therapy") provide framing</a:t>
            </a:r>
            <a:endParaRPr lang="en-US" sz="1100"/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F5C88453-D6AE-928D-3436-CD5D9279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64008"/>
          </a:xfrm>
          <a:prstGeom prst="rect">
            <a:avLst/>
          </a:prstGeom>
          <a:solidFill>
            <a:srgbClr val="D94E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4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Likely False Negative Patterns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causality — temporal co-occurrence without explicit causal language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drug mentions — uncommon drugs lack discriminative TF-IDF weight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"No adverse events observed" not handled by bag-of-words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multi-clause sentences requiring cross-sentence reasoning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931920" cy="64008"/>
          </a:xfrm>
          <a:prstGeom prst="rect">
            <a:avLst/>
          </a:prstGeom>
          <a:solidFill>
            <a:srgbClr val="DAA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Likely False Positive Patterns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+ disease mentioned without causality (e.g., prescription context)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efficacy descriptions sharing ADE vocabulary ("therapy", "treatment")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ambiguity — same symptom could be pre-existing condition vs. adverse effect</a:t>
            </a:r>
            <a:endParaRPr lang="en-US" sz="1100"/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Clinical Impact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Scenario: Processing 100,000 Sentences (~29% ADE)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1920240" cy="1463040"/>
          </a:xfrm>
          <a:prstGeom prst="rect">
            <a:avLst/>
          </a:prstGeom>
          <a:solidFill>
            <a:srgbClr val="EBF9F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~65,100</a:t>
            </a:r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Non-ADE auto-filtered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2606040" y="1645920"/>
            <a:ext cx="1920240" cy="1463040"/>
          </a:xfrm>
          <a:prstGeom prst="rect">
            <a:avLst/>
          </a:prstGeom>
          <a:solidFill>
            <a:srgbClr val="E0F4F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0604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~23,900</a:t>
            </a:r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26974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correctly flagged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4754880" y="1645920"/>
            <a:ext cx="1920240" cy="1463040"/>
          </a:xfrm>
          <a:prstGeom prst="rect">
            <a:avLst/>
          </a:prstGeom>
          <a:solidFill>
            <a:srgbClr val="FFF8E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DA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~5,100</a:t>
            </a:r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484632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(brief dismissal)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6903720" y="1645920"/>
            <a:ext cx="1920240" cy="1463040"/>
          </a:xfrm>
          <a:prstGeom prst="rect">
            <a:avLst/>
          </a:prstGeom>
          <a:solidFill>
            <a:srgbClr val="FFF0E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0372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D94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~5,300</a:t>
            </a:r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699516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ADEs (need QA)</a:t>
            </a:r>
            <a:endParaRPr lang="en-US" sz="1050"/>
          </a:p>
        </p:txBody>
      </p:sp>
      <p:sp>
        <p:nvSpPr>
          <p:cNvPr id="19" name="Shape 16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383280"/>
            <a:ext cx="64008" cy="146304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&amp; Operational Implications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685800" y="3840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timelines: weeks → hours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classification trails for regulatory submissions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biomedical literature at scale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via predict_proba enables recall-optimized deployment</a:t>
            </a:r>
            <a:endParaRPr lang="en-US" sz="1200"/>
          </a:p>
        </p:txBody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CCA00FC-1E1C-3D84-D3BF-C1D288975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81454D-3998-99F2-E808-A7A595DC636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3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" cy="329184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88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Limitations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single dataset (ADE Corpus V2 only)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only — no document context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validation split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coverage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64008" cy="3291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Limitations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98348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negation handling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loses word order &amp; contextual semantics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vocabulary cannot capture new drug names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train/test split (no cross-validation)</a:t>
            </a:r>
            <a:endParaRPr lang="en-US" sz="1200"/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Improvements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Models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/ PubMedBERT / SciBERT for contextualized embeddings capturing negation and word order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Optimization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95% recall for ADE detection using precision-recall curve guidance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Learning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identify most informative unlabeled sentences for efficient annotation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800600" y="2331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33172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Multi-Label Classification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capture ADE type (hepatotoxicity, cardiotoxicity) and severity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PubMed + FAERS Integration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flagged drugs against FDA FAERS API for real-world signal validation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64008" cy="1097280"/>
          </a:xfrm>
          <a:prstGeom prst="rect">
            <a:avLst/>
          </a:prstGeom>
          <a:solidFill>
            <a:srgbClr val="E85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 Extraction Pipeline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498348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refine entity-level modeling and extraction steps for production deployment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0F2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78808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97280" y="4114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Further refine extraction steps and entity-level modeling for production readiness</a:t>
            </a:r>
            <a:endParaRPr lang="en-US" sz="1300"/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2900" y="1664208"/>
            <a:ext cx="882396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/>
          </a:p>
        </p:txBody>
      </p:sp>
      <p:sp>
        <p:nvSpPr>
          <p:cNvPr id="6" name="Text 3"/>
          <p:cNvSpPr/>
          <p:nvPr/>
        </p:nvSpPr>
        <p:spPr>
          <a:xfrm>
            <a:off x="1005840" y="182880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feature integration significantly improved classification performance across all models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(NER) achieved the best balance of precision (82.3%) and recall (81.8%)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Drug–disease co-occurrence (has_both) validated as most powerful predictive signal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viable as first-pass pharmacovigilance triage tool, dramatically reducing manual review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deployment recommended to address the 18% false negative rate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0058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/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D78E3-7828-12EB-39C0-EBF4C90FD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D7DB60-72C6-B2CA-8A68-F2455B160371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8EB46595-4D8A-623A-F715-783F5D1FBA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diagram of a drug safety&#10;&#10;AI-generated content may be incorrect.">
            <a:extLst>
              <a:ext uri="{FF2B5EF4-FFF2-40B4-BE49-F238E27FC236}">
                <a16:creationId xmlns:a16="http://schemas.microsoft.com/office/drawing/2014/main" id="{4EAF9FF7-23C8-FDAB-496D-DA4AF05DA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5439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DB8D51-3447-7678-9996-1254DBD405AB}"/>
              </a:ext>
            </a:extLst>
          </p:cNvPr>
          <p:cNvSpPr txBox="1"/>
          <p:nvPr/>
        </p:nvSpPr>
        <p:spPr>
          <a:xfrm>
            <a:off x="3380763" y="11996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2335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Pharmacovigilance Text Analytics</dc:title>
  <dc:subject>PptxGenJS Presentation</dc:subject>
  <dc:creator>Feroz Obaid Khan</dc:creator>
  <cp:revision>2</cp:revision>
  <dcterms:created xsi:type="dcterms:W3CDTF">2026-02-11T21:07:28Z</dcterms:created>
  <dcterms:modified xsi:type="dcterms:W3CDTF">2026-02-18T21:02:29Z</dcterms:modified>
</cp:coreProperties>
</file>